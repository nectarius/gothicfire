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F8FAFC"/>
                </a:solidFill>
              </a:defRPr>
            </a:pPr>
            <a:r>
              <a:t>Gothic Fire AI Agent Architecture</a:t>
            </a:r>
          </a:p>
          <a:p>
            <a:pPr>
              <a:spcAft>
                <a:spcPts val="2400"/>
              </a:spcAft>
              <a:defRPr sz="2200">
                <a:solidFill>
                  <a:srgbClr val="38BDF8"/>
                </a:solidFill>
              </a:defRPr>
            </a:pPr>
            <a:r>
              <a:t>Migration to Google Agent Development Kit (ADK) — Option 1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Graph-Powered Workflows  •  Offline Zero-Cost Local LLM  •  ADK Eval Sets &amp;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59E0B"/>
                </a:solidFill>
              </a:defRPr>
            </a:pPr>
            <a:r>
              <a:t>Technical Architecture &amp; Implementation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GOTHIC FIRE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Executive Summary: Why ADK &amp; Option 1?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6499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077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Current State &amp; Pain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290779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F8FAFC"/>
                </a:solidFill>
              </a:rPr>
              <a:t>• Monolithic Prompts: </a:t>
            </a:r>
            <a:r>
              <a:rPr sz="1200">
                <a:solidFill>
                  <a:srgbClr val="94A3B8"/>
                </a:solidFill>
              </a:rPr>
              <a:t>Single-pass LLM prompts attempt to parse complex rules, select legal moves, and adopt personas simultaneously.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F8FAFC"/>
                </a:solidFill>
              </a:rPr>
              <a:t>• Small Model Fragility: </a:t>
            </a:r>
            <a:r>
              <a:rPr sz="1200">
                <a:solidFill>
                  <a:srgbClr val="94A3B8"/>
                </a:solidFill>
              </a:rPr>
              <a:t>1.5B local model can hallucinate illegal moves or miss critical threats under complex multi-variable state.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F8FAFC"/>
                </a:solidFill>
              </a:rPr>
              <a:t>• Manual Test Harness: </a:t>
            </a:r>
            <a:r>
              <a:rPr sz="1200">
                <a:solidFill>
                  <a:srgbClr val="94A3B8"/>
                </a:solidFill>
              </a:rPr>
              <a:t>Testing relies on handcrafted Python asserts without regression metrics or standardized datasets.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645920"/>
            <a:ext cx="336499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828800"/>
            <a:ext cx="29077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The Solution: Option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2377440"/>
            <a:ext cx="290779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F8FAFC"/>
                </a:solidFill>
              </a:rPr>
              <a:t>• Preserve Python Microservice: </a:t>
            </a:r>
            <a:r>
              <a:rPr sz="1200">
                <a:solidFill>
                  <a:srgbClr val="94A3B8"/>
                </a:solidFill>
              </a:rPr>
              <a:t>Keeps AI isolated in agent/ on port 8000; ZERO changes required to Kotlin Ktor backend!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F8FAFC"/>
                </a:solidFill>
              </a:rPr>
              <a:t>• Google ADK 2.0 Workflows: </a:t>
            </a:r>
            <a:r>
              <a:rPr sz="1200">
                <a:solidFill>
                  <a:srgbClr val="94A3B8"/>
                </a:solidFill>
              </a:rPr>
              <a:t>Deconstruct monolithic prompts into directed graph workflows (nodes &amp; edges).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F8FAFC"/>
                </a:solidFill>
              </a:rPr>
              <a:t>• 100% Offline &amp; Free: </a:t>
            </a:r>
            <a:r>
              <a:rPr sz="1200">
                <a:solidFill>
                  <a:srgbClr val="94A3B8"/>
                </a:solidFill>
              </a:rPr>
              <a:t>Runs local Qwen 2.5 1.5B GGUF on CPU with &lt; 1.5 GB RAM footprint via LiteLLM.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645920"/>
            <a:ext cx="336499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1828800"/>
            <a:ext cx="29077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Target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377440"/>
            <a:ext cx="290779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F8FAFC"/>
                </a:solidFill>
              </a:rPr>
              <a:t>• Guaranteed Legal Moves: </a:t>
            </a:r>
            <a:r>
              <a:rPr sz="1200">
                <a:solidFill>
                  <a:srgbClr val="94A3B8"/>
                </a:solidFill>
              </a:rPr>
              <a:t>Deterministic nodes filter &amp; validate moves, eliminating invalid tactical actions entirely.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F8FAFC"/>
                </a:solidFill>
              </a:rPr>
              <a:t>• Up to 65% Latency Drop: </a:t>
            </a:r>
            <a:r>
              <a:rPr sz="1200">
                <a:solidFill>
                  <a:srgbClr val="94A3B8"/>
                </a:solidFill>
              </a:rPr>
              <a:t>Zero-compute fast paths for single moves and bounded token generation (180 -&gt; 45 tokens).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F8FAFC"/>
                </a:solidFill>
              </a:rPr>
              <a:t>• Automated Quality Benchmarking: </a:t>
            </a:r>
            <a:r>
              <a:rPr sz="1200">
                <a:solidFill>
                  <a:srgbClr val="94A3B8"/>
                </a:solidFill>
              </a:rPr>
              <a:t>ADK eval_set replaces ad-hoc tests with repeatable regression scoring.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GOTHIC FIRE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Architecture Blueprint: Hybrid Graph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1. Microservice Boundary &amp;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✓ Untouched Kotlin Backend: </a:t>
            </a:r>
            <a:r>
              <a:rPr sz="1200">
                <a:solidFill>
                  <a:srgbClr val="94A3B8"/>
                </a:solidFill>
              </a:rPr>
              <a:t>Ktor services (AdvisorService.kt, AiOpponentService.kt) continue communicating via HTTP REST on port 8000.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✓ Strict JSON Schemas: </a:t>
            </a:r>
            <a:r>
              <a:rPr sz="1200">
                <a:solidFill>
                  <a:srgbClr val="94A3B8"/>
                </a:solidFill>
              </a:rPr>
              <a:t>Preserves DecisionRequest, DecisionResponse, AdvisorRequest, AdvisorResponse contracts.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✓ Container Isolation: </a:t>
            </a:r>
            <a:r>
              <a:rPr sz="1200">
                <a:solidFill>
                  <a:srgbClr val="94A3B8"/>
                </a:solidFill>
              </a:rPr>
              <a:t>Runs as dedicated gothicfire-agent Docker container in Docker Compose and K3s manifests.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✓ Health &amp; Liveness Probes: </a:t>
            </a:r>
            <a:r>
              <a:rPr sz="1200">
                <a:solidFill>
                  <a:srgbClr val="94A3B8"/>
                </a:solidFill>
              </a:rPr>
              <a:t>/health and /live endpoints monitor model memory (VmRSS) and readiness.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2. Internal ADK Microservice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★ ADK 2.0 Workflows: </a:t>
            </a:r>
            <a:r>
              <a:rPr sz="1200">
                <a:solidFill>
                  <a:srgbClr val="94A3B8"/>
                </a:solidFill>
              </a:rPr>
              <a:t>Replaces monolithic if/else script with structured Directed Acyclic Graphs (DAGs).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★ LiteLLM Model Connector: </a:t>
            </a:r>
            <a:r>
              <a:rPr sz="1200">
                <a:solidFill>
                  <a:srgbClr val="94A3B8"/>
                </a:solidFill>
              </a:rPr>
              <a:t>Standardized abstraction targeting local llama-cpp-python endpoint or cloud APIs transparently.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★ Sandwich Architecture: </a:t>
            </a:r>
            <a:r>
              <a:rPr sz="1200">
                <a:solidFill>
                  <a:srgbClr val="94A3B8"/>
                </a:solidFill>
              </a:rPr>
              <a:t>Deterministic Game Code -&gt; Specialized LLM Reasoning -&gt; Deterministic Validation &amp; Fallback.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★ Zero Vendor Lock-in: </a:t>
            </a:r>
            <a:r>
              <a:rPr sz="1200">
                <a:solidFill>
                  <a:srgbClr val="94A3B8"/>
                </a:solidFill>
              </a:rPr>
              <a:t>Switch between local Qwen GGUF, Ollama, or Gemini 2.0 Flash simply via environment variables.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GOTHIC FIRE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Graph Workflows: Tactical Computer Opponent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659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691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Node 1: Fast Router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Deterministic Code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If moves == 0: fallback WAIT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If moves == 1: pick instantly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Zero LLM inference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100% CPU savings on forced moves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6936" y="1645920"/>
            <a:ext cx="19659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54096" y="1828800"/>
            <a:ext cx="1691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8BDF8"/>
                </a:solidFill>
              </a:defRPr>
            </a:pPr>
            <a:r>
              <a:t>Node 2: Stance Classifier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Specialized LLM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Analyzes high-level state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Decides strategic posture: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DEFEND_CASTLE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RECRUIT_ARMY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EXPAND_TERRITORY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2352" y="1645920"/>
            <a:ext cx="19659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9512" y="1828800"/>
            <a:ext cx="1691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Node 3: Candidate Filter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Deterministic Code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Prunes 20+ moves down to 2-4 candidate moves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Aligns with chosen stance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Drastically reduces context for picker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87768" y="1645920"/>
            <a:ext cx="19659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4928" y="1828800"/>
            <a:ext cx="1691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8BDF8"/>
                </a:solidFill>
              </a:defRPr>
            </a:pPr>
            <a:r>
              <a:t>Node 4: Move Selector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Specialized LLM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Picks best candidate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Bounded generation: max 45 tokens (down from 180)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Strict JSON schema with chosen_move &amp; reasoning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73184" y="1645920"/>
            <a:ext cx="19659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10344" y="1828800"/>
            <a:ext cx="1691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Node 5: Rule Guardrail</a:t>
            </a:r>
          </a:p>
          <a:p>
            <a:pPr>
              <a:spcAft>
                <a:spcPts val="1400"/>
              </a:spcAft>
              <a:defRPr sz="1000">
                <a:solidFill>
                  <a:srgbClr val="94A3B8"/>
                </a:solidFill>
              </a:defRPr>
            </a:pPr>
            <a:r>
              <a:t>Deterministic Code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Asserts move is strictly in legal_moves list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If invalid: auto-substitutes safe heuristic move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100% illegal move immunity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GOTHIC FIRE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Graph Workflows: War Council Advisors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Advisor Consultation Graph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38BDF8"/>
                </a:solidFill>
              </a:rPr>
              <a:t>Step 1: Idempotency Cache
</a:t>
            </a:r>
            <a:r>
              <a:rPr sz="1150">
                <a:solidFill>
                  <a:srgbClr val="94A3B8"/>
                </a:solidFill>
              </a:rPr>
              <a:t>Hashes (turn, player_state, question_type). Instant cached return if user clicks twice in same turn.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38BDF8"/>
                </a:solidFill>
              </a:rPr>
              <a:t>Step 2: State Auditor Node
</a:t>
            </a:r>
            <a:r>
              <a:rPr sz="1150">
                <a:solidFill>
                  <a:srgbClr val="94A3B8"/>
                </a:solidFill>
              </a:rPr>
              <a:t>Deterministic extraction of food runway turns, castle border threats, uncollected gold &amp; food.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38BDF8"/>
                </a:solidFill>
              </a:rPr>
              <a:t>Step 3: Persona Router
</a:t>
            </a:r>
            <a:r>
              <a:rPr sz="1150">
                <a:solidFill>
                  <a:srgbClr val="94A3B8"/>
                </a:solidFill>
              </a:rPr>
              <a:t>Dispatches dynamically to Zorax or Jade specialized prompt nodes based on advisor choice.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38BDF8"/>
                </a:solidFill>
              </a:rPr>
              <a:t>Step 4: Grounding Guardrail
</a:t>
            </a:r>
            <a:r>
              <a:rPr sz="1150">
                <a:solidFill>
                  <a:srgbClr val="94A3B8"/>
                </a:solidFill>
              </a:rPr>
              <a:t>Deterministic verification: if starvation or garrison threat exists, forces alert inclusion to eliminate hallucinations.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The Two Advisory Personas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F59E0B"/>
                </a:solidFill>
              </a:rPr>
              <a:t>Zorax the Mighty (Tactical Warlord)</a:t>
            </a:r>
          </a:p>
          <a:p>
            <a:pPr>
              <a:spcAft>
                <a:spcPts val="200"/>
              </a:spcAft>
              <a:defRPr sz="1150">
                <a:solidFill>
                  <a:srgbClr val="F8FAFC"/>
                </a:solidFill>
              </a:defRPr>
            </a:pPr>
            <a:r>
              <a:t>• Voice: Grizzled, blunt, martial general</a:t>
            </a:r>
          </a:p>
          <a:p>
            <a:pPr>
              <a:spcAft>
                <a:spcPts val="200"/>
              </a:spcAft>
              <a:defRPr sz="1150">
                <a:solidFill>
                  <a:srgbClr val="F8FAFC"/>
                </a:solidFill>
              </a:defRPr>
            </a:pPr>
            <a:r>
              <a:t>• Focus: Castle garrison safety, troop ratios, flank security</a:t>
            </a:r>
          </a:p>
          <a:p>
            <a:pPr>
              <a:spcAft>
                <a:spcPts val="200"/>
              </a:spcAft>
              <a:defRPr sz="1150">
                <a:solidFill>
                  <a:srgbClr val="F8FAFC"/>
                </a:solidFill>
              </a:defRPr>
            </a:pPr>
            <a:r>
              <a:t>• Bias: Immediate military strike, counter-siege tactics</a:t>
            </a:r>
          </a:p>
          <a:p>
            <a:pPr>
              <a:spcAft>
                <a:spcPts val="200"/>
              </a:spcAft>
              <a:defRPr sz="1150">
                <a:solidFill>
                  <a:srgbClr val="F8FAFC"/>
                </a:solidFill>
              </a:defRPr>
            </a:pPr>
            <a:r>
              <a:t>• Role: Prevents players from losing fortresses unexpectedly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─────────────────────────────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F59E0B"/>
                </a:solidFill>
              </a:rPr>
              <a:t>Jade the Enlightened (Arcane Sorceress)</a:t>
            </a:r>
          </a:p>
          <a:p>
            <a:pPr>
              <a:spcAft>
                <a:spcPts val="200"/>
              </a:spcAft>
              <a:defRPr sz="1150">
                <a:solidFill>
                  <a:srgbClr val="F8FAFC"/>
                </a:solidFill>
              </a:defRPr>
            </a:pPr>
            <a:r>
              <a:t>• Voice: Serene, mystical, long-term strategist</a:t>
            </a:r>
          </a:p>
          <a:p>
            <a:pPr>
              <a:spcAft>
                <a:spcPts val="200"/>
              </a:spcAft>
              <a:defRPr sz="1150">
                <a:solidFill>
                  <a:srgbClr val="F8FAFC"/>
                </a:solidFill>
              </a:defRPr>
            </a:pPr>
            <a:r>
              <a:t>• Focus: Food upkeep runway, territory cultivation, economic pacing</a:t>
            </a:r>
          </a:p>
          <a:p>
            <a:pPr>
              <a:spcAft>
                <a:spcPts val="200"/>
              </a:spcAft>
              <a:defRPr sz="1150">
                <a:solidFill>
                  <a:srgbClr val="F8FAFC"/>
                </a:solidFill>
              </a:defRPr>
            </a:pPr>
            <a:r>
              <a:t>• Bias: Economic fortification and mystical mana balance</a:t>
            </a:r>
          </a:p>
          <a:p>
            <a:pPr>
              <a:spcAft>
                <a:spcPts val="200"/>
              </a:spcAft>
              <a:defRPr sz="1150">
                <a:solidFill>
                  <a:srgbClr val="F8FAFC"/>
                </a:solidFill>
              </a:defRPr>
            </a:pPr>
            <a:r>
              <a:t>• Role: Prevents economic collapse and troop starvation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GOTHIC FIRE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Cost &amp; Latency Optimization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1. Zero-Compute Short-Circuit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Single Legal Move: Returns move immediately without invoking LLM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100% CPU savings during forced retreats or single recruit options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Turn Idempotency: Duplicate UI clicks served from memory cache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2. Bounded Output Token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4663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Decisions: Cap max_tokens at 45 tokens (reduced from 180)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Stop Sequences: Enforce stop at closing JSON bracket '}'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Cuts CPU inference duration by ~65% (from ~1.8s down to ~0.5s)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519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3. KV Cache &amp; Prompt Re-Use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09160"/>
            <a:ext cx="4663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Enable llama-cpp in-memory KV prompt cache (cache_type='ram')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Static persona guidelines &amp; system instructions evaluated only once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Eliminates redundant prompt prefill on every turn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6908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2519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4. Lazy State Tool Fetching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709160"/>
            <a:ext cx="4663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Move away from monolithic upfront state strings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Agents fetch specific domain data via ADK tools on-demand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Reduces prompt context length by 60%, shrinking memory pressure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GOTHIC FIRE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Automated Quality Assurance: ADK Eval 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ADK Evaluation Tooling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▶ adk eval CLI: </a:t>
            </a:r>
            <a:r>
              <a:rPr sz="1150">
                <a:solidFill>
                  <a:srgbClr val="94A3B8"/>
                </a:solidFill>
              </a:rPr>
              <a:t>Executes automated conformance tests across hundreds of game turn scenarios in parallel.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▶ Trajectory &amp; Trait Matching: </a:t>
            </a:r>
            <a:r>
              <a:rPr sz="1150">
                <a:solidFill>
                  <a:srgbClr val="94A3B8"/>
                </a:solidFill>
              </a:rPr>
              <a:t>Scores whether the agent picked the expected move or highlighted critical alerts.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▶ LLM-as-a-Judge: </a:t>
            </a:r>
            <a:r>
              <a:rPr sz="1150">
                <a:solidFill>
                  <a:srgbClr val="94A3B8"/>
                </a:solidFill>
              </a:rPr>
              <a:t>Uses a high-level evaluator (e.g. Gemini 2.0 Flash) to critique persona tone and strategic depth.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▶ adk optimize CLI: </a:t>
            </a:r>
            <a:r>
              <a:rPr sz="1150">
                <a:solidFill>
                  <a:srgbClr val="94A3B8"/>
                </a:solidFill>
              </a:rPr>
              <a:t>Automatically searches and compresses prompt instructions to find minimal token lengths that preserve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Gothic Fire Benchmark 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10B981"/>
                </a:solidFill>
              </a:rPr>
              <a:t>Tactical Eval Suite (tactical_suite.json):</a:t>
            </a:r>
          </a:p>
          <a:p>
            <a:pPr>
              <a:spcAft>
                <a:spcPts val="200"/>
              </a:spcAft>
              <a:defRPr sz="1150">
                <a:solidFill>
                  <a:srgbClr val="F8FAFC"/>
                </a:solidFill>
              </a:defRPr>
            </a:pPr>
            <a:r>
              <a:t>• Castle Under Siege: Enemy forces adjacent -&gt; asserts defense/strike</a:t>
            </a:r>
          </a:p>
          <a:p>
            <a:pPr>
              <a:spcAft>
                <a:spcPts val="200"/>
              </a:spcAft>
              <a:defRPr sz="1150">
                <a:solidFill>
                  <a:srgbClr val="F8FAFC"/>
                </a:solidFill>
              </a:defRPr>
            </a:pPr>
            <a:r>
              <a:t>• Starvation Crisis: Food &lt; upkeep -&gt; asserts gather/conserve</a:t>
            </a:r>
          </a:p>
          <a:p>
            <a:pPr>
              <a:spcAft>
                <a:spcPts val="200"/>
              </a:spcAft>
              <a:defRPr sz="1150">
                <a:solidFill>
                  <a:srgbClr val="F8FAFC"/>
                </a:solidFill>
              </a:defRPr>
            </a:pPr>
            <a:r>
              <a:t>• Border Superiority: Secured perimeter -&gt; asserts expansion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─────────────────────────────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10B981"/>
                </a:solidFill>
              </a:rPr>
              <a:t>Advisor Eval Suite (advisor_suite.json):</a:t>
            </a:r>
          </a:p>
          <a:p>
            <a:pPr>
              <a:spcAft>
                <a:spcPts val="200"/>
              </a:spcAft>
              <a:defRPr sz="1150">
                <a:solidFill>
                  <a:srgbClr val="F8FAFC"/>
                </a:solidFill>
              </a:defRPr>
            </a:pPr>
            <a:r>
              <a:t>• Persona Fidelity: Zorax sounds martial; Jade sounds mystical</a:t>
            </a:r>
          </a:p>
          <a:p>
            <a:pPr>
              <a:spcAft>
                <a:spcPts val="200"/>
              </a:spcAft>
              <a:defRPr sz="1150">
                <a:solidFill>
                  <a:srgbClr val="F8FAFC"/>
                </a:solidFill>
              </a:defRPr>
            </a:pPr>
            <a:r>
              <a:t>• Critical Alert Coverage: Mandatory mention of hunger or zero garrisons</a:t>
            </a:r>
          </a:p>
          <a:p>
            <a:pPr>
              <a:spcAft>
                <a:spcPts val="200"/>
              </a:spcAft>
              <a:defRPr sz="1150">
                <a:solidFill>
                  <a:srgbClr val="F8FAFC"/>
                </a:solidFill>
              </a:defRPr>
            </a:pPr>
            <a:r>
              <a:t>• Actionability: Counsel provides concrete next-turn 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GOTHIC FIRE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Implementation Roadmap: 6 Phased Sprints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241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38BDF8"/>
                </a:solidFill>
              </a:rPr>
              <a:t>[1/6] Phase 1: Environment &amp; Setup:  </a:t>
            </a:r>
            <a:r>
              <a:rPr sz="1200">
                <a:solidFill>
                  <a:srgbClr val="F8FAFC"/>
                </a:solidFill>
              </a:rPr>
              <a:t>Add google-adk, litellm to requirements.txt; configure LiteLLM local connector.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95728"/>
            <a:ext cx="106984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05456"/>
            <a:ext cx="10241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38BDF8"/>
                </a:solidFill>
              </a:rPr>
              <a:t>[2/6] Phase 2: Graph Workflows:  </a:t>
            </a:r>
            <a:r>
              <a:rPr sz="1200">
                <a:solidFill>
                  <a:srgbClr val="F8FAFC"/>
                </a:solidFill>
              </a:rPr>
              <a:t>Build Tactical Decision Graph (5 nodes) &amp; Advisor War Council Graph (4 nodes).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45536"/>
            <a:ext cx="106984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55264"/>
            <a:ext cx="10241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F59E0B"/>
                </a:solidFill>
              </a:rPr>
              <a:t>[3/6] Phase 3: Cost Optimizations:  </a:t>
            </a:r>
            <a:r>
              <a:rPr sz="1200">
                <a:solidFill>
                  <a:srgbClr val="F8FAFC"/>
                </a:solidFill>
              </a:rPr>
              <a:t>Implement 1-move short circuit, 45-token generation limits, and prompt KV cache.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95344"/>
            <a:ext cx="106984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05072"/>
            <a:ext cx="10241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0B981"/>
                </a:solidFill>
              </a:rPr>
              <a:t>[4/6] Phase 4: ADK Eval Sets:  </a:t>
            </a:r>
            <a:r>
              <a:rPr sz="1200">
                <a:solidFill>
                  <a:srgbClr val="F8FAFC"/>
                </a:solidFill>
              </a:rPr>
              <a:t>Port verify_agent.py test cases to JSON eval sets; establish baseline with adk eval.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45152"/>
            <a:ext cx="106984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10241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0B981"/>
                </a:solidFill>
              </a:rPr>
              <a:t>[5/6] Phase 5: FastAPI Integration:  </a:t>
            </a:r>
            <a:r>
              <a:rPr sz="1200">
                <a:solidFill>
                  <a:srgbClr val="F8FAFC"/>
                </a:solidFill>
              </a:rPr>
              <a:t>Wire graph workflows into /decide and /advisor/consult; run ./gradlew jvmTest.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6984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504688"/>
            <a:ext cx="10241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818CF8"/>
                </a:solidFill>
              </a:rPr>
              <a:t>[6/6] Phase 6: Container Rollout:  </a:t>
            </a:r>
            <a:r>
              <a:rPr sz="1200">
                <a:solidFill>
                  <a:srgbClr val="F8FAFC"/>
                </a:solidFill>
              </a:rPr>
              <a:t>Build gothicfire-agent Docker image; deploy to Docker Compose and K3s cluster.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GOTHIC FIRE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Risk Mitigation &amp; Measurable ROI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Risk Mitigation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250">
                <a:solidFill>
                  <a:srgbClr val="F59E0B"/>
                </a:solidFill>
              </a:rPr>
              <a:t>⚠ Risk: Local Model RAM &gt; 1.5 GB
</a:t>
            </a:r>
            <a:r>
              <a:rPr sz="1150">
                <a:solidFill>
                  <a:srgbClr val="94A3B8"/>
                </a:solidFill>
              </a:rPr>
              <a:t>Mitigation: Strictly keep n_ctx=2048, pass delta state rather than full history, monitor VmRSS in /health.</a:t>
            </a:r>
          </a:p>
          <a:p>
            <a:pPr>
              <a:spcAft>
                <a:spcPts val="1400"/>
              </a:spcAft>
            </a:pPr>
            <a:r>
              <a:rPr b="1" sz="1250">
                <a:solidFill>
                  <a:srgbClr val="F59E0B"/>
                </a:solidFill>
              </a:rPr>
              <a:t>⚠ Risk: Generation Timeout (&gt; 30s)
</a:t>
            </a:r>
            <a:r>
              <a:rPr sz="1150">
                <a:solidFill>
                  <a:srgbClr val="94A3B8"/>
                </a:solidFill>
              </a:rPr>
              <a:t>Mitigation: Bounded output (45 tokens) + per-node timeouts instantly defaulting to heuristic moves.</a:t>
            </a:r>
          </a:p>
          <a:p>
            <a:pPr>
              <a:spcAft>
                <a:spcPts val="1400"/>
              </a:spcAft>
            </a:pPr>
            <a:r>
              <a:rPr b="1" sz="1250">
                <a:solidFill>
                  <a:srgbClr val="F59E0B"/>
                </a:solidFill>
              </a:rPr>
              <a:t>⚠ Risk: Breaking Kotlin Contract
</a:t>
            </a:r>
            <a:r>
              <a:rPr sz="1150">
                <a:solidFill>
                  <a:srgbClr val="94A3B8"/>
                </a:solidFill>
              </a:rPr>
              <a:t>Mitigation: Existing Pydantic schemas preserved; validated via ./gradlew jvmTest before container build.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Measurable ROI &amp; Value Delivered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250">
                <a:solidFill>
                  <a:srgbClr val="10B981"/>
                </a:solidFill>
              </a:rPr>
              <a:t>✔ 100% Legal Move Reliability
</a:t>
            </a:r>
            <a:r>
              <a:rPr sz="1150">
                <a:solidFill>
                  <a:srgbClr val="94A3B8"/>
                </a:solidFill>
              </a:rPr>
              <a:t>Deterministic graph guardrails ensure invalid moves can never crash or stall a game.</a:t>
            </a:r>
          </a:p>
          <a:p>
            <a:pPr>
              <a:spcAft>
                <a:spcPts val="1400"/>
              </a:spcAft>
            </a:pPr>
            <a:r>
              <a:rPr b="1" sz="1250">
                <a:solidFill>
                  <a:srgbClr val="10B981"/>
                </a:solidFill>
              </a:rPr>
              <a:t>✔ Zero Recurring API Expenses
</a:t>
            </a:r>
            <a:r>
              <a:rPr sz="1150">
                <a:solidFill>
                  <a:srgbClr val="94A3B8"/>
                </a:solidFill>
              </a:rPr>
              <a:t>Entire system runs on local Qwen 1.5B GGUF with zero cloud token invoices.</a:t>
            </a:r>
          </a:p>
          <a:p>
            <a:pPr>
              <a:spcAft>
                <a:spcPts val="1400"/>
              </a:spcAft>
            </a:pPr>
            <a:r>
              <a:rPr b="1" sz="1250">
                <a:solidFill>
                  <a:srgbClr val="10B981"/>
                </a:solidFill>
              </a:rPr>
              <a:t>✔ ~65% Latency Reduction
</a:t>
            </a:r>
            <a:r>
              <a:rPr sz="1150">
                <a:solidFill>
                  <a:srgbClr val="94A3B8"/>
                </a:solidFill>
              </a:rPr>
              <a:t>Token bounding and short-circuiting accelerate bot turns from ~1.8s down to ~0.5s.</a:t>
            </a:r>
          </a:p>
          <a:p>
            <a:pPr>
              <a:spcAft>
                <a:spcPts val="1400"/>
              </a:spcAft>
            </a:pPr>
            <a:r>
              <a:rPr b="1" sz="1250">
                <a:solidFill>
                  <a:srgbClr val="10B981"/>
                </a:solidFill>
              </a:rPr>
              <a:t>✔ Continuous Regression Testing
</a:t>
            </a:r>
            <a:r>
              <a:rPr sz="1150">
                <a:solidFill>
                  <a:srgbClr val="94A3B8"/>
                </a:solidFill>
              </a:rPr>
              <a:t>ADK eval sets turn prompt tuning into a scientific, repeatable engineering discipline.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GOTHIC FIRE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Next Steps &amp; Action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Immediate Next Steps for Project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400">
                <a:solidFill>
                  <a:srgbClr val="38BDF8"/>
                </a:solidFill>
              </a:rPr>
              <a:t>1. Approve Architecture &amp; Plan: </a:t>
            </a:r>
            <a:r>
              <a:rPr sz="1300">
                <a:solidFill>
                  <a:srgbClr val="F8FAFC"/>
                </a:solidFill>
              </a:rPr>
              <a:t>Confirm Option 1 scope (Python microservice refactor with zero changes to Kotlin backend).</a:t>
            </a:r>
          </a:p>
          <a:p>
            <a:pPr>
              <a:spcAft>
                <a:spcPts val="1600"/>
              </a:spcAft>
            </a:pPr>
            <a:r>
              <a:rPr b="1" sz="1400">
                <a:solidFill>
                  <a:srgbClr val="38BDF8"/>
                </a:solidFill>
              </a:rPr>
              <a:t>2. Phase 1 Dependency Install: </a:t>
            </a:r>
            <a:r>
              <a:rPr sz="1300">
                <a:solidFill>
                  <a:srgbClr val="F8FAFC"/>
                </a:solidFill>
              </a:rPr>
              <a:t>Add google-adk and litellm to agent/requirements.txt and verify build.</a:t>
            </a:r>
          </a:p>
          <a:p>
            <a:pPr>
              <a:spcAft>
                <a:spcPts val="1600"/>
              </a:spcAft>
            </a:pPr>
            <a:r>
              <a:rPr b="1" sz="1400">
                <a:solidFill>
                  <a:srgbClr val="38BDF8"/>
                </a:solidFill>
              </a:rPr>
              <a:t>3. Create Initial Eval Set: </a:t>
            </a:r>
            <a:r>
              <a:rPr sz="1300">
                <a:solidFill>
                  <a:srgbClr val="F8FAFC"/>
                </a:solidFill>
              </a:rPr>
              <a:t>Convert verify_agent.py test cases into agent/eval_sets/tactical_suite.json.</a:t>
            </a:r>
          </a:p>
          <a:p>
            <a:pPr>
              <a:spcAft>
                <a:spcPts val="1600"/>
              </a:spcAft>
            </a:pPr>
            <a:r>
              <a:rPr b="1" sz="1400">
                <a:solidFill>
                  <a:srgbClr val="38BDF8"/>
                </a:solidFill>
              </a:rPr>
              <a:t>4. Implement Tactical Graph: </a:t>
            </a:r>
            <a:r>
              <a:rPr sz="1300">
                <a:solidFill>
                  <a:srgbClr val="F8FAFC"/>
                </a:solidFill>
              </a:rPr>
              <a:t>Construct the 5-node decision DAG and benchmark with adk eval.</a:t>
            </a:r>
          </a:p>
          <a:p>
            <a:pPr>
              <a:spcAft>
                <a:spcPts val="1600"/>
              </a:spcAft>
            </a:pPr>
            <a:r>
              <a:rPr b="1" sz="1400">
                <a:solidFill>
                  <a:srgbClr val="38BDF8"/>
                </a:solidFill>
              </a:rPr>
              <a:t>5. Ready for Questions &amp; Discussion! </a:t>
            </a:r>
            <a:r>
              <a:rPr sz="1300">
                <a:solidFill>
                  <a:srgbClr val="F8FAFC"/>
                </a:solidFill>
              </a:rPr>
              <a:t>Open floor for team feedback, timeline adjustments, or technical inquiries.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